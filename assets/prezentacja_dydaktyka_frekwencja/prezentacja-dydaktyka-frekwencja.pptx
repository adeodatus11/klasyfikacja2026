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35"/>
    <p:sldId id="281" r:id="rId27"/>
    <p:sldId id="283" r:id="rId36"/>
    <p:sldId id="284" r:id="rId41"/>
    <p:sldId id="285" r:id="rId38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6DF07-1750-8543-8714-829CD234963F}" v="4" dt="2026-06-23T06:59:12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>
        <p:scale>
          <a:sx n="177" d="100"/>
          <a:sy n="177" d="100"/>
        </p:scale>
        <p:origin x="2360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7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Relationship Id="rId35" Type="http://schemas.openxmlformats.org/officeDocument/2006/relationships/slide" Target="slides/slide26.xml"/><Relationship Id="rId36" Type="http://schemas.openxmlformats.org/officeDocument/2006/relationships/slide" Target="slides/slide28.xml"/><Relationship Id="rId37" Type="http://schemas.openxmlformats.org/officeDocument/2006/relationships/slide" Target="slides/slide28.xml"/><Relationship Id="rId38" Type="http://schemas.openxmlformats.org/officeDocument/2006/relationships/slide" Target="slides/slide30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29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iej Najwer" userId="6e11fad6-e3e7-41b0-ad7e-1974f021edf0" providerId="ADAL" clId="{2E1C6958-87DE-5E16-98C0-A3378A5E1863}"/>
    <pc:docChg chg="undo custSel modSld">
      <pc:chgData name="Maciej Najwer" userId="6e11fad6-e3e7-41b0-ad7e-1974f021edf0" providerId="ADAL" clId="{2E1C6958-87DE-5E16-98C0-A3378A5E1863}" dt="2026-06-23T06:59:57.868" v="166" actId="20577"/>
      <pc:docMkLst>
        <pc:docMk/>
      </pc:docMkLst>
      <pc:sldChg chg="addSp delSp modSp mod">
        <pc:chgData name="Maciej Najwer" userId="6e11fad6-e3e7-41b0-ad7e-1974f021edf0" providerId="ADAL" clId="{2E1C6958-87DE-5E16-98C0-A3378A5E1863}" dt="2026-06-23T06:59:57.868" v="166" actId="20577"/>
        <pc:sldMkLst>
          <pc:docMk/>
          <pc:sldMk cId="0" sldId="256"/>
        </pc:sldMkLst>
        <pc:spChg chg="mod">
          <ac:chgData name="Maciej Najwer" userId="6e11fad6-e3e7-41b0-ad7e-1974f021edf0" providerId="ADAL" clId="{2E1C6958-87DE-5E16-98C0-A3378A5E1863}" dt="2026-06-23T06:59:57.868" v="166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Maciej Najwer" userId="6e11fad6-e3e7-41b0-ad7e-1974f021edf0" providerId="ADAL" clId="{2E1C6958-87DE-5E16-98C0-A3378A5E1863}" dt="2026-06-22T22:18:57.662" v="42" actId="478"/>
          <ac:spMkLst>
            <pc:docMk/>
            <pc:sldMk cId="0" sldId="256"/>
            <ac:spMk id="8" creationId="{00000000-0000-0000-0000-000000000000}"/>
          </ac:spMkLst>
        </pc:spChg>
        <pc:spChg chg="add mod ord">
          <ac:chgData name="Maciej Najwer" userId="6e11fad6-e3e7-41b0-ad7e-1974f021edf0" providerId="ADAL" clId="{2E1C6958-87DE-5E16-98C0-A3378A5E1863}" dt="2026-06-23T06:59:47.841" v="164" actId="14100"/>
          <ac:spMkLst>
            <pc:docMk/>
            <pc:sldMk cId="0" sldId="256"/>
            <ac:spMk id="11" creationId="{89504F52-28C0-184B-B889-D6201B58000C}"/>
          </ac:spMkLst>
        </pc:spChg>
        <pc:spChg chg="add mod">
          <ac:chgData name="Maciej Najwer" userId="6e11fad6-e3e7-41b0-ad7e-1974f021edf0" providerId="ADAL" clId="{2E1C6958-87DE-5E16-98C0-A3378A5E1863}" dt="2026-06-23T06:53:36.731" v="159" actId="1076"/>
          <ac:spMkLst>
            <pc:docMk/>
            <pc:sldMk cId="0" sldId="256"/>
            <ac:spMk id="12" creationId="{EC8A9B23-0E94-03E4-1B91-FAD74C100DD3}"/>
          </ac:spMkLst>
        </pc:spChg>
        <pc:picChg chg="add del mod">
          <ac:chgData name="Maciej Najwer" userId="6e11fad6-e3e7-41b0-ad7e-1974f021edf0" providerId="ADAL" clId="{2E1C6958-87DE-5E16-98C0-A3378A5E1863}" dt="2026-06-23T06:59:12.459" v="160" actId="478"/>
          <ac:picMkLst>
            <pc:docMk/>
            <pc:sldMk cId="0" sldId="256"/>
            <ac:picMk id="8" creationId="{6D620FBD-2D32-4C9A-8545-48F9D30C461E}"/>
          </ac:picMkLst>
        </pc:picChg>
        <pc:picChg chg="add mod ord">
          <ac:chgData name="Maciej Najwer" userId="6e11fad6-e3e7-41b0-ad7e-1974f021edf0" providerId="ADAL" clId="{2E1C6958-87DE-5E16-98C0-A3378A5E1863}" dt="2026-06-23T06:59:47.841" v="164" actId="14100"/>
          <ac:picMkLst>
            <pc:docMk/>
            <pc:sldMk cId="0" sldId="256"/>
            <ac:picMk id="10" creationId="{E410DD92-E591-4903-F322-230985943791}"/>
          </ac:picMkLst>
        </pc:picChg>
        <pc:picChg chg="add mod">
          <ac:chgData name="Maciej Najwer" userId="6e11fad6-e3e7-41b0-ad7e-1974f021edf0" providerId="ADAL" clId="{2E1C6958-87DE-5E16-98C0-A3378A5E1863}" dt="2026-06-23T06:59:24.011" v="162" actId="1076"/>
          <ac:picMkLst>
            <pc:docMk/>
            <pc:sldMk cId="0" sldId="256"/>
            <ac:picMk id="13" creationId="{E9E5D9A4-984F-A133-5E4A-FE8534F43B86}"/>
          </ac:picMkLst>
        </pc:picChg>
      </pc:sldChg>
      <pc:sldChg chg="modSp mod">
        <pc:chgData name="Maciej Najwer" userId="6e11fad6-e3e7-41b0-ad7e-1974f021edf0" providerId="ADAL" clId="{2E1C6958-87DE-5E16-98C0-A3378A5E1863}" dt="2026-06-22T22:15:34.879" v="1" actId="14100"/>
        <pc:sldMkLst>
          <pc:docMk/>
          <pc:sldMk cId="0" sldId="277"/>
        </pc:sldMkLst>
        <pc:picChg chg="mod">
          <ac:chgData name="Maciej Najwer" userId="6e11fad6-e3e7-41b0-ad7e-1974f021edf0" providerId="ADAL" clId="{2E1C6958-87DE-5E16-98C0-A3378A5E1863}" dt="2026-06-22T22:15:34.879" v="1" actId="14100"/>
          <ac:picMkLst>
            <pc:docMk/>
            <pc:sldMk cId="0" sldId="277"/>
            <ac:picMk id="5" creationId="{00000000-0000-0000-0000-000000000000}"/>
          </ac:picMkLst>
        </pc:picChg>
      </pc:sldChg>
      <pc:sldChg chg="modSp mod">
        <pc:chgData name="Maciej Najwer" userId="6e11fad6-e3e7-41b0-ad7e-1974f021edf0" providerId="ADAL" clId="{2E1C6958-87DE-5E16-98C0-A3378A5E1863}" dt="2026-06-22T22:15:57.971" v="11" actId="20577"/>
        <pc:sldMkLst>
          <pc:docMk/>
          <pc:sldMk cId="0" sldId="279"/>
        </pc:sldMkLst>
        <pc:spChg chg="mod">
          <ac:chgData name="Maciej Najwer" userId="6e11fad6-e3e7-41b0-ad7e-1974f021edf0" providerId="ADAL" clId="{2E1C6958-87DE-5E16-98C0-A3378A5E1863}" dt="2026-06-22T22:15:57.971" v="11" actId="20577"/>
          <ac:spMkLst>
            <pc:docMk/>
            <pc:sldMk cId="0" sldId="279"/>
            <ac:spMk id="20" creationId="{00000000-0000-0000-0000-000000000000}"/>
          </ac:spMkLst>
        </pc:spChg>
      </pc:sldChg>
      <pc:sldChg chg="modSp mod">
        <pc:chgData name="Maciej Najwer" userId="6e11fad6-e3e7-41b0-ad7e-1974f021edf0" providerId="ADAL" clId="{2E1C6958-87DE-5E16-98C0-A3378A5E1863}" dt="2026-06-22T22:16:06.922" v="16" actId="20577"/>
        <pc:sldMkLst>
          <pc:docMk/>
          <pc:sldMk cId="0" sldId="280"/>
        </pc:sldMkLst>
        <pc:spChg chg="mod">
          <ac:chgData name="Maciej Najwer" userId="6e11fad6-e3e7-41b0-ad7e-1974f021edf0" providerId="ADAL" clId="{2E1C6958-87DE-5E16-98C0-A3378A5E1863}" dt="2026-06-22T22:16:06.922" v="16" actId="20577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Maciej Najwer" userId="6e11fad6-e3e7-41b0-ad7e-1974f021edf0" providerId="ADAL" clId="{2E1C6958-87DE-5E16-98C0-A3378A5E1863}" dt="2026-06-22T22:16:49.263" v="36" actId="20577"/>
        <pc:sldMkLst>
          <pc:docMk/>
          <pc:sldMk cId="0" sldId="281"/>
        </pc:sldMkLst>
        <pc:spChg chg="mod">
          <ac:chgData name="Maciej Najwer" userId="6e11fad6-e3e7-41b0-ad7e-1974f021edf0" providerId="ADAL" clId="{2E1C6958-87DE-5E16-98C0-A3378A5E1863}" dt="2026-06-22T22:16:34.534" v="28" actId="20577"/>
          <ac:spMkLst>
            <pc:docMk/>
            <pc:sldMk cId="0" sldId="281"/>
            <ac:spMk id="9" creationId="{00000000-0000-0000-0000-000000000000}"/>
          </ac:spMkLst>
        </pc:spChg>
        <pc:spChg chg="mod">
          <ac:chgData name="Maciej Najwer" userId="6e11fad6-e3e7-41b0-ad7e-1974f021edf0" providerId="ADAL" clId="{2E1C6958-87DE-5E16-98C0-A3378A5E1863}" dt="2026-06-22T22:16:49.263" v="36" actId="20577"/>
          <ac:spMkLst>
            <pc:docMk/>
            <pc:sldMk cId="0" sldId="281"/>
            <ac:spMk id="1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101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2E6FB5">
              <a:alpha val="22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Prostokąt zaokrąglony 10">
            <a:extLst>
              <a:ext uri="{FF2B5EF4-FFF2-40B4-BE49-F238E27FC236}">
                <a16:creationId xmlns:a16="http://schemas.microsoft.com/office/drawing/2014/main" id="{89504F52-28C0-184B-B889-D6201B58000C}"/>
              </a:ext>
            </a:extLst>
          </p:cNvPr>
          <p:cNvSpPr/>
          <p:nvPr/>
        </p:nvSpPr>
        <p:spPr>
          <a:xfrm>
            <a:off x="1981200" y="4356100"/>
            <a:ext cx="82296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0241280" y="3108960"/>
            <a:ext cx="4206240" cy="4206240"/>
          </a:xfrm>
          <a:prstGeom prst="ellipse">
            <a:avLst/>
          </a:prstGeom>
          <a:solidFill>
            <a:srgbClr val="2BB7A8">
              <a:alpha val="1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 PEDAGOGICZNA · 25 CZERWCA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Klasyfikacja końcowa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rok szkolny 2025 / 2026 — II półrocze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Rozwój oddziałów w czasie oraz wyniki całej szkoły</a:t>
            </a:r>
            <a:endParaRPr lang="en-US" sz="1600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E410DD92-E591-4903-F322-230985943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584613"/>
            <a:ext cx="7772400" cy="1450427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C8A9B23-0E94-03E4-1B91-FAD74C100DD3}"/>
              </a:ext>
            </a:extLst>
          </p:cNvPr>
          <p:cNvSpPr txBox="1"/>
          <p:nvPr/>
        </p:nvSpPr>
        <p:spPr>
          <a:xfrm>
            <a:off x="8424153" y="3636550"/>
            <a:ext cx="274165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DB8D6"/>
                </a:solidFill>
                <a:latin typeface="Calibri" pitchFamily="34" charset="0"/>
                <a:cs typeface="Calibri" pitchFamily="34" charset="-120"/>
              </a:rPr>
              <a:t>klasyfikacja2026.szkolamistrzow.info</a:t>
            </a:r>
            <a:endParaRPr lang="en-US" sz="1300" dirty="0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E9E5D9A4-984F-A133-5E4A-FE8534F43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703580"/>
            <a:ext cx="2895600" cy="29083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6FB5">
              <a:alpha val="2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BB7A8">
              <a:alpha val="16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oddziałów od klasy pierwszej po obecną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 — klasy pierwsze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z klasami pierwszymi sprzed roku</a:t>
            </a:r>
            <a:endParaRPr lang="en-US" sz="1300" dirty="0"/>
          </a:p>
        </p:txBody>
      </p:sp>
      <p:pic>
        <p:nvPicPr>
          <p:cNvPr id="4" name="Image 0" descr="charts/t1_kl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Różnica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TFA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TFB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ROCZNIK (śr.)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Tegoroczne klasy pierwsze technikum startują wyżej niż rok temu: 2,98 wobec 2,87 (+0,11). Najwyżej 1TFA, najniżej 1TH.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 — klasy drugie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tego samego oddziału rok po roku</a:t>
            </a:r>
            <a:endParaRPr lang="en-US" sz="1300" dirty="0"/>
          </a:p>
        </p:txBody>
      </p:sp>
      <p:pic>
        <p:nvPicPr>
          <p:cNvPr id="4" name="Image 0" descr="charts/t2_kl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1536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kl.1 24/25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kl.2 25/26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2TFB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obecne klasy drugie technikum poprawiły średnią po przejściu z kl. 1 (śr. +0,27). Najmocniej 2TFA (+0,39).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 — klasy trzecie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tego samego oddziału rok po roku</a:t>
            </a:r>
            <a:endParaRPr lang="en-US" sz="1300" dirty="0"/>
          </a:p>
        </p:txBody>
      </p:sp>
      <p:pic>
        <p:nvPicPr>
          <p:cNvPr id="4" name="Image 0" descr="charts/t3_kl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1536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kl.1 23/24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kl.2 24/25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kl.3 25/26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3TFA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3TFB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klasa trzecia rośnie w całym cyklu — wyraźny skok w ostatnim roku. Najwięcej 3TH (+0,64) i 3TFA (+0,57).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 — klasy czwarte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tego samego oddziału rok po roku</a:t>
            </a:r>
            <a:endParaRPr lang="en-US" sz="1300" dirty="0"/>
          </a:p>
        </p:txBody>
      </p:sp>
      <p:pic>
        <p:nvPicPr>
          <p:cNvPr id="4" name="Image 0" descr="charts/t4_kl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11521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kl.1 22/23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kl.2 23/24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kl.3 24/25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kl.4 25/26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4TFB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klasy czwarte konsekwentnie rosły przez 4 lata. Największy postęp 4TH (+0,58); 4TFB do 3,61.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 — klasy piąte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tego samego oddziału rok po roku</a:t>
            </a:r>
            <a:endParaRPr lang="en-US" sz="1300" dirty="0"/>
          </a:p>
        </p:txBody>
      </p:sp>
      <p:pic>
        <p:nvPicPr>
          <p:cNvPr id="4" name="Image 0" descr="charts/t5_kl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11521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kl.2 22/23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kl.3 23/24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kl.4 24/25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kl.5 25/26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5TF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 piąte ukończyły naukę z najwyższymi wynikami w całym cyklu: 5TF 3,69 i 5TH 3,65. Oba oddziały rosły rok po roku (brak danych z kl. 1 — rok 2021/22).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5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spd="med">
    <p:cover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6FB5">
              <a:alpha val="2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BB7A8">
              <a:alpha val="16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Szkoła I Stopnia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Rozwój oddziałów w całym cyklu kształcenia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(BS I) — klasy pierwsze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z klasami pierwszymi sprzed roku</a:t>
            </a:r>
            <a:endParaRPr lang="en-US" sz="1300" dirty="0"/>
          </a:p>
        </p:txBody>
      </p:sp>
      <p:pic>
        <p:nvPicPr>
          <p:cNvPr id="4" name="Image 0" descr="charts/b1_kl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36210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Różnica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CB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FA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FB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WA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 WB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ROCZNIK (śr.)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 pierwsze BS I są na poziomie zeszłorocznego rocznika (3,06 wobec 3,07). Rozpiętość: od 2,71 (1WB) do 3,42 (1FC).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(BS I) — klasy drugie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tego samego oddziału rok po roku</a:t>
            </a:r>
            <a:endParaRPr lang="en-US" sz="1300" dirty="0"/>
          </a:p>
        </p:txBody>
      </p:sp>
      <p:pic>
        <p:nvPicPr>
          <p:cNvPr id="4" name="Image 0" descr="charts/b2_kl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36210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kl.1 24/25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kl.2 25/26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2CB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2WA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2WB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64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klas drugich BS I poprawiła wyniki po roku (śr. +0,18). Wyróżniają się 2S (+0,61) i 2CA (+0,40); spadek: 2CB i 2WB.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(BS I) — klasy trzecie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Ścieżka rozwoju tego samego oddziału rok po roku</a:t>
            </a:r>
            <a:endParaRPr lang="en-US" sz="1300" dirty="0"/>
          </a:p>
        </p:txBody>
      </p:sp>
      <p:pic>
        <p:nvPicPr>
          <p:cNvPr id="4" name="Image 0" descr="charts/b3_kl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296265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kl.1 23/24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kl.2 24/25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kl.3 25/26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3CB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3FA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3FB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3WA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 trzecie BS I urosły w całym cyklu. Najwięcej 3CA (+0,55) i 3S (+0,50); najniżej wciąż 3M — samochodowe (2,82).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6FB5">
              <a:alpha val="2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BB7A8">
              <a:alpha val="16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III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Szkoła II Stopnia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Rozwój roczników w cyklu półrocznym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Szkoła II Stopnia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Szkoła 2-letnia (4 półrocza): 1B → 2B → 3B → 4B</a:t>
            </a:r>
            <a:endParaRPr lang="en-US" sz="1300" dirty="0"/>
          </a:p>
        </p:txBody>
      </p:sp>
      <p:pic>
        <p:nvPicPr>
          <p:cNvPr id="4" name="Image 0" descr="charts/c_bs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6400800" cy="41605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481328"/>
          <a:ext cx="4937760" cy="11948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Rocznik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25/26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25/26 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Kończący (2B→3B→4B)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rok (1B→2B)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9729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Komentarz:  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II stopnia liczona półroczami. Rocznik kończący rósł co półrocze i ukończył ze średnią 4,59 — najwyższą w szkole (klasa 3-osobowa). Nowy rocznik (1B→2B) stabilny.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6FB5">
              <a:alpha val="2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BB7A8">
              <a:alpha val="16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Wyniki całej szkoły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Zbiorcze wyniki, frekwencja, postępy i wnioski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Rok 2025/2026 w liczbach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II półrocza — kluczowe wskaźniki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256032" cy="256032"/>
          </a:xfrm>
          <a:prstGeom prst="ellipse">
            <a:avLst/>
          </a:prstGeom>
          <a:solidFill>
            <a:srgbClr val="2E6F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3,22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85800" y="3172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ocen szkoły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najwyższa od 4 lat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813048" y="2011680"/>
            <a:ext cx="256032" cy="256032"/>
          </a:xfrm>
          <a:prstGeom prst="ellipse">
            <a:avLst/>
          </a:prstGeom>
          <a:solidFill>
            <a:srgbClr val="2BB7A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493008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691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630168" y="3172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uczniów (stan na 22.06)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0168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+ 188 absolwentów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37376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757416" y="201168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437376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70,7%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574536" y="3172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frekwencja roczna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74536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wyzwanie — niska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81744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9701784" y="2011680"/>
            <a:ext cx="256032" cy="256032"/>
          </a:xfrm>
          <a:prstGeom prst="ellipse">
            <a:avLst/>
          </a:prstGeom>
          <a:solidFill>
            <a:srgbClr val="D64B4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9381744" y="219456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13,7%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518904" y="3172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uczniów z oceną ndst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18904" y="36301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6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wymaga uwagi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Dwie historie naraz:  </a:t>
            </a:r>
            <a:r>
              <a:rPr lang="en-US" sz="15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rosną, ale rośnie też grupa uczniów wymagających wsparcia. Frekwencja pozostaje słabym punktem.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Średnia ocen rośnie czwarty rok z rzędu</a:t>
            </a:r>
            <a:endParaRPr lang="en-US" sz="3000" dirty="0"/>
          </a:p>
        </p:txBody>
      </p:sp>
      <p:pic>
        <p:nvPicPr>
          <p:cNvPr id="3" name="Image 0" descr="charts/c1_sredni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749808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55448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1F3A5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832104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BB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+0,22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50392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wzrost średniej od 2022/23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</a:t>
            </a: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</a:t>
            </a: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</a:t>
            </a: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400" b="1" dirty="0">
                <a:solidFill>
                  <a:srgbClr val="2B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4069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dotyczy II półroczy kolejnych lat — tego samego punktu roku szkolnego.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Oba typy szkół poprawiają wyniki</a:t>
            </a:r>
            <a:endParaRPr lang="en-US" sz="3000" dirty="0"/>
          </a:p>
        </p:txBody>
      </p:sp>
      <p:pic>
        <p:nvPicPr>
          <p:cNvPr id="3" name="Image 0" descr="charts/c5_typ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749808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6916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8549640" y="1947672"/>
            <a:ext cx="237744" cy="237744"/>
          </a:xfrm>
          <a:prstGeom prst="ellipse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891540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Technikum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49640" y="225856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54964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+0,12 r/r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21040" y="37033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8549640" y="3959352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8915400" y="3886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Szkoła branżowa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49640" y="427024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54964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+0,12 r/r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Technikum utrzymuje przewagę, ale dystans między typami szkół jest stabilny.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spd="med">
    <p:cover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Gdzie wyniki są mocne, a gdzie słabsze</a:t>
            </a:r>
            <a:endParaRPr lang="en-US" sz="3000" dirty="0"/>
          </a:p>
        </p:txBody>
      </p:sp>
      <p:pic>
        <p:nvPicPr>
          <p:cNvPr id="3" name="Image 0" descr="charts/c7_poziom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34440"/>
            <a:ext cx="5852160" cy="3931920"/>
          </a:xfrm>
          <a:prstGeom prst="rect">
            <a:avLst/>
          </a:prstGeom>
        </p:spPr>
      </p:pic>
      <p:pic>
        <p:nvPicPr>
          <p:cNvPr id="4" name="Image 1" descr="charts/c8_zawod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188720"/>
            <a:ext cx="5760720" cy="4206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Najmocniej:  </a:t>
            </a: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cukiernicza (3,40), technikum fryzjerskie (3,33).   </a:t>
            </a:r>
            <a:r>
              <a:rPr lang="en-US" sz="1400" b="1" dirty="0">
                <a:solidFill>
                  <a:srgbClr val="D6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wsparcia:  </a:t>
            </a: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samochodowe (2,83), wielobranżowa (3,00).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Frekwencja — i spada w ciągu roku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roku na rok stabilnie niska (lewo) — ale w ciągu roku wyraźnie się załamuje (prawo)</a:t>
            </a:r>
            <a:endParaRPr lang="en-US" sz="1350" dirty="0"/>
          </a:p>
        </p:txBody>
      </p:sp>
      <p:pic>
        <p:nvPicPr>
          <p:cNvPr id="4" name="Image 0" descr="charts/c2_frekwencj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371600"/>
            <a:ext cx="5852160" cy="3657600"/>
          </a:xfrm>
          <a:prstGeom prst="rect">
            <a:avLst/>
          </a:prstGeom>
        </p:spPr>
      </p:pic>
      <p:pic>
        <p:nvPicPr>
          <p:cNvPr id="5" name="Image 1" descr="charts/c2b_frekw_polrocz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371600"/>
            <a:ext cx="557784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87% uczniów </a:t>
            </a: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frekwencja w II półroczu była niższa niż w I. To realny sygnał półrocze-do-półrocza — obecność słabnie wraz z trwaniem roku.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Więcej uczniów z ocenami niedostatecznymi</a:t>
            </a:r>
            <a:endParaRPr lang="en-US" sz="2800" dirty="0"/>
          </a:p>
        </p:txBody>
      </p:sp>
      <p:pic>
        <p:nvPicPr>
          <p:cNvPr id="3" name="Image 0" descr="charts/c3_nd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749808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55448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BE9E9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832104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6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503920" y="2697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uczniów z co najmniej jedną oceną ndst (13,7%)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3520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Wzrost z 10,7% rok wcześniej. Przy rosnącej średniej rośnie też grupa zagrożona — wyniki się rozwarstwiają.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Mniej egzaminów poprawkowych i klasyfikacyjnych</a:t>
            </a:r>
            <a:endParaRPr lang="en-US" sz="2700" dirty="0"/>
          </a:p>
        </p:txBody>
      </p:sp>
      <p:pic>
        <p:nvPicPr>
          <p:cNvPr id="3" name="Image 0" descr="charts/c4_poprawk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749808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6916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854964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Egzaminy poprawkowe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49640" y="2240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→ 66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549640" y="29900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−37%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321040" y="37033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854964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Egzaminy klasyfikacyjne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49640" y="4251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→ 27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549640" y="50017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większej liczby uczniów potrzeba było znacznie mniej egzaminów — to realny efekt pracy w ciągu roku.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Postępy tych samych uczniów w czasie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Śledzenie tej samej osoby między kolejnymi klasyfikacjami — nie tylko zmiana składu</a:t>
            </a:r>
            <a:endParaRPr lang="en-US" sz="1350" dirty="0"/>
          </a:p>
        </p:txBody>
      </p:sp>
      <p:pic>
        <p:nvPicPr>
          <p:cNvPr id="4" name="Image 0" descr="charts/c_pr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6126480" cy="3657600"/>
          </a:xfrm>
          <a:prstGeom prst="rect">
            <a:avLst/>
          </a:prstGeom>
        </p:spPr>
      </p:pic>
      <p:pic>
        <p:nvPicPr>
          <p:cNvPr id="5" name="Image 1" descr="charts/c_donu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945573"/>
            <a:ext cx="4937760" cy="43579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AF5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Bieżący rok był najlepszy: </a:t>
            </a:r>
            <a:r>
              <a:rPr lang="en-US" sz="14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uczniów poprawiło średnią względem 2024/25 (rok wcześniej 53%). W całej karierze poprawę notuje 2 na 3 uczniów.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ransition spd="med">
    <p:cover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Rozkład ocen: więcej piątek, ale i więcej jedynek</a:t>
            </a:r>
            <a:endParaRPr lang="en-US" sz="2600" dirty="0"/>
          </a:p>
        </p:txBody>
      </p:sp>
      <p:pic>
        <p:nvPicPr>
          <p:cNvPr id="3" name="Image 0" descr="charts/c6_rozkl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749808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1040" y="178308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8549640" y="2057400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8887968" y="19842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Oceny 4–5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49640" y="2468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31,0% → 36,3%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321040" y="36576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8549640" y="3931920"/>
            <a:ext cx="219456" cy="219456"/>
          </a:xfrm>
          <a:prstGeom prst="ellipse">
            <a:avLst/>
          </a:prstGeom>
          <a:solidFill>
            <a:srgbClr val="D64B4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8887968" y="3858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Oceny niedostateczne (1)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49640" y="43434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6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 → 2,1%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się polaryzują: silni uczniowie radzą sobie lepiej, a słabsi potrzebują więcej wsparcia.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Uczniowie na koniec roku — kto został, kto odszedł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z ewidencji uczniów — stan na 22.06.2026 · historia 3 lat poniżej</a:t>
            </a:r>
            <a:endParaRPr lang="en-US" sz="1300" dirty="0"/>
          </a:p>
        </p:txBody>
      </p:sp>
      <p:pic>
        <p:nvPicPr>
          <p:cNvPr id="4" name="Image 0" descr="charts/c_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17320"/>
            <a:ext cx="5281574" cy="31967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481328"/>
            <a:ext cx="4160520" cy="1024128"/>
          </a:xfrm>
          <a:prstGeom prst="roundRect">
            <a:avLst>
              <a:gd name="adj" fmla="val 8036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7699248" y="1865376"/>
            <a:ext cx="237744" cy="237744"/>
          </a:xfrm>
          <a:prstGeom prst="ellipse">
            <a:avLst/>
          </a:prstGeom>
          <a:solidFill>
            <a:srgbClr val="2E6F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8001000" y="159105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372600" y="1591056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uczniów uczęszcza (22.06)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2578608"/>
            <a:ext cx="4160520" cy="1024128"/>
          </a:xfrm>
          <a:prstGeom prst="roundRect">
            <a:avLst>
              <a:gd name="adj" fmla="val 8036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7699248" y="2962656"/>
            <a:ext cx="237744" cy="23774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8001000" y="268833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372600" y="2688336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absolwentów ukończyło szkołę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3675888"/>
            <a:ext cx="4160520" cy="1024128"/>
          </a:xfrm>
          <a:prstGeom prst="roundRect">
            <a:avLst>
              <a:gd name="adj" fmla="val 8036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7699248" y="4059936"/>
            <a:ext cx="237744" cy="237744"/>
          </a:xfrm>
          <a:prstGeom prst="ellipse">
            <a:avLst/>
          </a:prstGeom>
          <a:solidFill>
            <a:srgbClr val="D64B4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8001000" y="378561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372600" y="3785616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uczniów odebrało dokumenty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0" y="4773168"/>
            <a:ext cx="4160520" cy="1024128"/>
          </a:xfrm>
          <a:prstGeom prst="roundRect">
            <a:avLst>
              <a:gd name="adj" fmla="val 8036"/>
            </a:avLst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5"/>
          <p:cNvSpPr/>
          <p:nvPr/>
        </p:nvSpPr>
        <p:spPr>
          <a:xfrm>
            <a:off x="7699248" y="5157216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6"/>
          <p:cNvSpPr/>
          <p:nvPr/>
        </p:nvSpPr>
        <p:spPr>
          <a:xfrm>
            <a:off x="8001000" y="4882896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9372600" y="4882896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przeniesionych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już </a:t>
            </a:r>
            <a:r>
              <a:rPr lang="en-US" sz="1150" dirty="0" err="1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odebrało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dokumenty</a:t>
            </a:r>
            <a:r>
              <a:rPr lang="en-US" sz="115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3F7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Przeniesieni </a:t>
            </a: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ruch między oddziałami lub między technikum a BS I; </a:t>
            </a:r>
            <a:r>
              <a:rPr lang="en-US" sz="1200" b="1" dirty="0">
                <a:solidFill>
                  <a:srgbClr val="D6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skreśleni</a:t>
            </a:r>
            <a:r>
              <a:rPr lang="en-US" sz="1200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odebrali dokumenty i opuścili szkołę.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końcowa 2025/2026  ·  Rada Pedagogiczna 24.06.2026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320040" y="4526280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3A5F"/>
                </a:solidFill>
              </a:rPr>
              <a:t>Ewidencja w trzech ostatnich latach szkolnych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4846320"/>
          <a:ext cx="711403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Rok szkolny</a:t>
                      </a:r>
                    </a:p>
                  </a:txBody>
                  <a:tcPr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Uczęszcz.</a:t>
                      </a:r>
                    </a:p>
                  </a:txBody>
                  <a:tcPr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Absolw.</a:t>
                      </a:r>
                    </a:p>
                  </a:txBody>
                  <a:tcPr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Odbiory w roku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(1.09–25.06)</a:t>
                      </a:r>
                    </a:p>
                  </a:txBody>
                  <a:tcPr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Odbiory wakac.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(26.06–31.08)</a:t>
                      </a:r>
                    </a:p>
                  </a:txBody>
                  <a:tcPr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Przenie-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sienia</a:t>
                      </a:r>
                    </a:p>
                  </a:txBody>
                  <a:tcPr marT="12700" marB="127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3A5F"/>
                          </a:solidFill>
                        </a:rPr>
                        <a:t>2023/2024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1020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192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153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74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3A5F"/>
                          </a:solidFill>
                        </a:rPr>
                        <a:t>2024/2025</a:t>
                      </a:r>
                    </a:p>
                  </a:txBody>
                  <a:tcPr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1069</a:t>
                      </a:r>
                    </a:p>
                  </a:txBody>
                  <a:tcPr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247</a:t>
                      </a:r>
                    </a:p>
                  </a:txBody>
                  <a:tcPr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156</a:t>
                      </a:r>
                    </a:p>
                  </a:txBody>
                  <a:tcPr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72</a:t>
                      </a:r>
                    </a:p>
                  </a:txBody>
                  <a:tcPr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3</a:t>
                      </a:r>
                    </a:p>
                  </a:txBody>
                  <a:tcPr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3A5F"/>
                          </a:solidFill>
                        </a:rPr>
                        <a:t>2025/2026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1046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188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145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A3A"/>
                          </a:solidFill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2BB7A8">
              <a:alpha val="16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Rozwój oddziałów —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wnioski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1635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097280" y="15361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DE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199339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FD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+0,27</a:t>
            </a:r>
            <a:r>
              <a:rPr lang="en-US" sz="14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śr. zmiana oddziału r/r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oddziałów w górę  ·  1 w dół  (4TH)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3716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1635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675120" y="15361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DE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Branżowa Szkoła I st.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199339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FD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+0,23</a:t>
            </a:r>
            <a:r>
              <a:rPr lang="en-US" sz="1400" dirty="0">
                <a:solidFill>
                  <a:srgbClr val="CD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śr. zmiana oddziału r/r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oddziałów w górę  ·  2 w dół  (2WB, 2CB)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0927080" cy="2606040"/>
          </a:xfrm>
          <a:prstGeom prst="roundRect">
            <a:avLst>
              <a:gd name="adj" fmla="val 3509"/>
            </a:avLst>
          </a:prstGeom>
          <a:solidFill>
            <a:srgbClr val="1B2A4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F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Najważniejsze wnioski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3434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same oddziały rok po roku poprawiają średnią — wzrost wyników to realny postęp, nie zmiana składu.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Najwyższe średnie w klasach kończących cykl — klasy maturalne 5TF (3,69) i 5TH (3,65) oraz 4B / BS II (4,59).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wymagające uwagi: 4TH (lekki spadek), 2WB i 2CB (BS I) oraz najsłabszy profil 3M — samochodowe.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Tegoroczne klasy pierwsze technikum startują wyżej niż rok temu (+0,11); w BS I — na podobnym poziomie.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Niepromowani — więcej niż 2 oceny niedostateczne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7A8"/>
                </a:solidFill>
              </a:rPr>
              <a:t>Udział rośnie trzeci rok z rzędu — klasyfikacja roczna, więcej niż 2 oceny niedostateczne (brak promocji).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3429000" cy="178308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476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2023/2024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D64B4B"/>
                </a:solidFill>
              </a:rPr>
              <a:t>2,7%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A3A"/>
                </a:solidFill>
              </a:rPr>
              <a:t>18 z 678 uczniów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29000" cy="178308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476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2024/2025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28600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D64B4B"/>
                </a:solidFill>
              </a:rPr>
              <a:t>3,3%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1089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A3A"/>
                </a:solidFill>
              </a:rPr>
              <a:t>25 z 757 uczniów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1783080"/>
            <a:ext cx="3429000" cy="1783080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D6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9476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28600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D64B4B"/>
                </a:solidFill>
              </a:rPr>
              <a:t>4,0%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31089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A3A"/>
                </a:solidFill>
              </a:rPr>
              <a:t>34 z 841 uczniów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39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Udział niepromowanych wg typu szkoły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3931920"/>
          <a:ext cx="106070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Typ szkoły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2023/2024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2024/2025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2025/2026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3A5F"/>
                          </a:solidFill>
                        </a:rPr>
                        <a:t>Technikum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</a:rPr>
                        <a:t>9 z 224 · 4,0%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</a:rPr>
                        <a:t>15 z 231 · 6,5%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</a:rPr>
                        <a:t>16 z 252 · 6,3%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3A5F"/>
                          </a:solidFill>
                        </a:rPr>
                        <a:t>Szkoła branżowa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</a:rPr>
                        <a:t>9 z 454 · 2,0%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</a:rPr>
                        <a:t>10 z 526 · 1,9%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F2A3A"/>
                          </a:solidFill>
                        </a:rPr>
                        <a:t>18 z 589 · 3,1%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77240" y="544068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Udział niepromowanych rośnie: 2,7% → 3,3% → 4,0%. Najsilniej w technikum (ok. 6%), znacznie mniej w szkole branżowej.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927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Źródło: dzienniki klasyfikacji rocznej (pełna historia 2023–2026). Pokrycie: 2025/26 — komplet (37 oddziałów); 2023/24 i 2024/25 nie obejmują kilku klas programowo najwyższych (kończących), wśród których niepromowalność jest ~zerowa — realny udział w tych latach może być nieco niższy, co dodatkowo wzmacnia trend wzrostowy.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2E6FB5">
              <a:alpha val="20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Podsumowanie dydaktyczne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635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D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 się udało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3,22 — najwyższa od 4 lat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 typy szkół poprawiły wyniki (+0,12)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uczniów poprawiło swoją średnią r/r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Egzaminy poprawkowe −37%, klasyfikacyjne −60%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absolwentów ukończyło szkołę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3A232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 Na czym się skupić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Frekwencja spada w ciągu roku: 77% → 65%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uczniów odebrało dokumenty w ciągu roku</a:t>
            </a:r>
            <a:endParaRPr lang="en-US" sz="145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13,7% uczniów z oceną ndst (wzrost r/r)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Rozwarstwienie wyników — wsparcie dla słabszych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do </a:t>
            </a:r>
            <a:r>
              <a:rPr lang="en-US" sz="1450" dirty="0" err="1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wzmocnienia</a:t>
            </a:r>
            <a:r>
              <a:rPr lang="en-US" sz="1450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dirty="0" err="1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wielobranżowa</a:t>
            </a:r>
            <a:r>
              <a:rPr lang="en-US" sz="1450" dirty="0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F3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kucharz</a:t>
            </a:r>
            <a:endParaRPr lang="en-US" sz="1450" dirty="0"/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Frekwencja w historii oddziału — co półrocze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52144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97A8"/>
                </a:solidFill>
              </a:rPr>
              <a:t>Te same oddziały śledzone od klasy pierwszej: w każdym roku spadek I→II, odbicie na starcie kolejnego.</a:t>
            </a:r>
          </a:p>
        </p:txBody>
      </p:sp>
      <p:pic>
        <p:nvPicPr>
          <p:cNvPr id="4" name="Picture 3" descr="frekw_oddz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7635240" cy="38203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77639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Jak to się układa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W każdym roku frekwencja spada między I a II półroczem (np. 3TH: 85→79, 80→70, 81→73).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Start nowego roku odbija w górę — ale nie wraca do poziomu wyjścia.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1F3A5F"/>
                </a:solidFill>
              </a:rPr>
              <a:t>Efekt netto: łagodny trend opadający przez cały cykl.</a:t>
            </a:r>
          </a:p>
          <a:p>
            <a:pPr algn="l"/>
            <a:r>
              <a:rPr sz="1100" b="0">
                <a:solidFill>
                  <a:srgbClr val="8A97A8"/>
                </a:solidFill>
              </a:rPr>
              <a:t>Wzór powtarza się w różnych oddziałach (handlowe i fryzjerskie).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927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Przykład: oddziały technikum z pełną frekwencją półroczną. W części klas BS I zestawienia mają tylko frekwencję roczną (bez podziału na półrocza).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Trendy frekwencji wg poziomu — Technikum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Średnia frekwencja każdego poziomu klas, półrocze po półroczu (6 okresów).</a:t>
            </a:r>
          </a:p>
        </p:txBody>
      </p:sp>
      <p:pic>
        <p:nvPicPr>
          <p:cNvPr id="4" name="Picture 3" descr="trend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5703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Wzór piłokształtny: w każdym roku spadek I→II półrocze.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4 stale najniżej (57–62% w II półroczach).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3 mocno w górę w 25/26 (II półrocze 75,6%).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Klasa 1 traci najwięcej w ciągu roku (~8–10 pp).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Średnie na poziomie ucznia. Oś X: I i II półrocze kolejnych lat. Klasy 5. poza zakresem.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Trendy frekwencji wg poziomu — BS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Średnia frekwencja każdego poziomu klas, półrocze po półroczu.</a:t>
            </a:r>
          </a:p>
        </p:txBody>
      </p:sp>
      <p:pic>
        <p:nvPicPr>
          <p:cNvPr id="4" name="Picture 3" descr="trend_b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5703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Ten sam spadek I→II co roku, co w technikum.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1 najwyżej w I półroczu, ale szybko spada.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2 stabilizuje się i rośnie w 25/26.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Klasa 3 (roczna) rośnie: 63 → 64 → 69%.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Klasy 1–2 mają dane półroczne; klasy 3. BS I tylko roczne (punkty rombowe).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Technikum, klasy pierwsze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Bieżące oddziały + średnie klas pierwszych z poprzednich lat (linie).</a:t>
            </a:r>
          </a:p>
        </p:txBody>
      </p:sp>
      <p:pic>
        <p:nvPicPr>
          <p:cNvPr id="4" name="Picture 3" descr="t_Techniku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904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Średnia kl.1 teraz: 72% (poziom 24/25: 71%, 23/24: 76%).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Najniżej: 1TFB — 67%. Najwyżej: 1TFA — 76%.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Przerywane linie = średnia tego poziomu w poprzednich latach.</a:t>
            </a:r>
          </a:p>
          <a:p>
            <a:pPr algn="l"/>
            <a:r>
              <a:rPr sz="1100" b="0">
                <a:solidFill>
                  <a:srgbClr val="8A97A8"/>
                </a:solidFill>
              </a:rPr>
              <a:t>Spadek I→II widoczny niemal wszędzie.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Słupki I/II 2025/26; linie przerywane = średnia tego poziomu w 23/24 (turkus) i 24/25 (pomarańcz).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Technikum, klasy drugie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Ścieżka rozwoju obecnych oddziałów; linie = średnie poziomu z lat poprzednich.</a:t>
            </a:r>
          </a:p>
        </p:txBody>
      </p:sp>
      <p:pic>
        <p:nvPicPr>
          <p:cNvPr id="4" name="Picture 3" descr="t_Techniku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928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Ścieżka tych samych oddziałów 24/25 → 25/26.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0 oddz. utrzymało/poprawiło, 3 obniżyło.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Teraz najniżej: 2TH — 70%; najwyżej: 2TFA — 78%.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Linie: śr. poziomu 23/24 = 74%, 24/25 = 76%.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Frekwencja roczna; linie przerywane = średnia tego poziomu klas w 23/24 (turkus) i 24/25 (pomarańcz).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Technikum, klasy trzecie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Ścieżka rozwoju obecnych oddziałów; linie = średnie poziomu z lat poprzednich.</a:t>
            </a:r>
          </a:p>
        </p:txBody>
      </p:sp>
      <p:pic>
        <p:nvPicPr>
          <p:cNvPr id="4" name="Picture 3" descr="t_Techniku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928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Ścieżka tych samych oddziałów 23/24 → 25/26.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1 oddz. utrzymało/poprawiło, 2 obniżyło.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Teraz najniżej: 3TH — 77%; najwyżej: 3TFA — 80%.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Linie: śr. poziomu 23/24 = 72%, 24/25 = 70%.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Frekwencja roczna; linie przerywane = średnia tego poziomu klas w 23/24 (turkus) i 24/25 (pomarańcz).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Technikum, klasy czwarte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Ścieżka rozwoju obecnych oddziałów; linie = średnie poziomu z lat poprzednich.</a:t>
            </a:r>
          </a:p>
        </p:txBody>
      </p:sp>
      <p:pic>
        <p:nvPicPr>
          <p:cNvPr id="4" name="Picture 3" descr="t_Techniku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833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Ścieżka tych samych oddziałów 23/24 → 25/26.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0 oddz. utrzymało/poprawiło, 2 obniżyło.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Teraz najniżej: 4TH — 68%; najwyżej: 4TFB — 70%.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Linie: śr. poziomu 23/24 = 64%, 24/25 = 68%.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Frekwencja roczna; linie przerywane = średnia tego poziomu klas w 23/24 (turkus) i 24/25 (pomarańcz).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BS I, klasy pierwsze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Bieżące oddziały + średnie klas pierwszych z poprzednich lat (linie).</a:t>
            </a:r>
          </a:p>
        </p:txBody>
      </p:sp>
      <p:pic>
        <p:nvPicPr>
          <p:cNvPr id="4" name="Picture 3" descr="t_BS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928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Średnia kl.1 teraz: 71% (poziom 24/25: 74%, 23/24: 76%).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Najniżej: 1WB — 60%. Najwyżej: 1CB — 79%.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Przerywane linie = średnia tego poziomu w poprzednich latach.</a:t>
            </a:r>
          </a:p>
          <a:p>
            <a:pPr algn="l"/>
            <a:r>
              <a:rPr sz="1100" b="0">
                <a:solidFill>
                  <a:srgbClr val="8A97A8"/>
                </a:solidFill>
              </a:rPr>
              <a:t>Spadek I→II widoczny niemal wszędzie.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Słupki I/II 2025/26; linie przerywane = średnia tego poziomu w 23/24 (turkus) i 24/25 (pomarańcz).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BS I, klasy drugie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Ścieżka rozwoju obecnych oddziałów; linie = średnie poziomu z lat poprzednich.</a:t>
            </a:r>
          </a:p>
        </p:txBody>
      </p:sp>
      <p:pic>
        <p:nvPicPr>
          <p:cNvPr id="4" name="Picture 3" descr="t_BS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9527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Ścieżka tych samych oddziałów 24/25 → 25/26.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4 oddz. utrzymało/poprawiło, 5 obniżyło.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Teraz najniżej: 2FA — 65%; najwyżej: 2WB — 79%.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Linie: śr. poziomu 23/24 = 71%, 24/25 = 70%.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Frekwencja roczna; linie przerywane = średnia tego poziomu klas w 23/24 (turkus) i 24/25 (pomarańcz).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Rozwój frekwencji · BS I, klasy trzecie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Ścieżka rozwoju obecnych oddziałów; linie = średnie poziomu z lat poprzednich.</a:t>
            </a:r>
          </a:p>
        </p:txBody>
      </p:sp>
      <p:pic>
        <p:nvPicPr>
          <p:cNvPr id="4" name="Picture 3" descr="t_BSI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49527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Ścieżka tych samych oddziałów 23/24 → 25/26.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0 oddz. utrzymało/poprawiło, 7 obniżyło.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Teraz najniżej: 3M — 61%; najwyżej: 3CA — 72%.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Linie: śr. poziomu 23/24 = 63%, 24/25 = 64%.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Frekwencja roczna; linie przerywane = średnia tego poziomu klas w 23/24 (turkus) i 24/25 (pomarańcz). Klasy 3. BS I — tylko roczna.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Podsumowanie — frekwencja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7A8"/>
                </a:solidFill>
              </a:rPr>
              <a:t>Najważniejsze wnioski z części o frekwencji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5212080" cy="365760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874519"/>
            <a:ext cx="5120640" cy="365760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</a:rPr>
              <a:t>✓  Co widać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Frekwencja spada w każdym roku o ~8–10 pp między I a II półroczem — powtarzalnie.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Kolejne roczniki klas pierwszych startują coraz niżej: 75,9 → 73,1 → 71,3% (rocznie).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Klasa 3 technikum mocno w górę w 25/26 (78,6%); BS I klasy 2–3 lekko się poprawiają.</a:t>
            </a:r>
          </a:p>
          <a:p>
            <a:pPr algn="l"/>
            <a:r>
              <a:rPr sz="1250" b="0">
                <a:solidFill>
                  <a:srgbClr val="1F2A3A"/>
                </a:solidFill>
              </a:rPr>
              <a:t>Technikum i BS I mają niemal identyczny poziom frekwencji.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791F"/>
                </a:solidFill>
              </a:rPr>
              <a:t>!  Na czym się skupić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II półrocze stale najsłabsze — utrzymać frekwencję wiosną.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Najniżej: technikum klasy 4 (57–62% w II półr.), BS I 1WB i 3M (~60%).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Wszystkie obecne klasy 3. BS I obniżyły frekwencję względem startu.</a:t>
            </a:r>
          </a:p>
          <a:p>
            <a:pPr algn="l"/>
            <a:r>
              <a:rPr sz="1250" b="0">
                <a:solidFill>
                  <a:srgbClr val="1F2A3A"/>
                </a:solidFill>
              </a:rPr>
              <a:t>Profilaktyka frekwencji już od klas pierwszych (wrzesień).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BB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7A8"/>
                </a:solidFill>
              </a:rPr>
              <a:t>ZACHOWANIE  ·  CZĘŚĆ TRZECIA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42032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Oceny z zachowania (roczne)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8D6"/>
                </a:solidFill>
              </a:rPr>
              <a:t>Rozwój w czasie oraz porównanie poziomów i typów szkół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Rozkład ocen zachowania w czasie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Udział ocen wzorowe…naganne w kolejnych latach; nad słupkami średnia (skala 1–6).</a:t>
            </a:r>
          </a:p>
        </p:txBody>
      </p:sp>
      <p:pic>
        <p:nvPicPr>
          <p:cNvPr id="4" name="Picture 3" descr="zach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6968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Średnia: 3,69 → 3,87 → 3,83 (poprawa, potem lekka korekta).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Nagannych ubyło: 9% → 4% → 5%.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Wzorowych mniej: 16% → 13% → 11%.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Środek skali (dobre/poprawne) rośnie — oceny się spłaszczają ku środkowi.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Źródło: arkusze «Zachowanie» w dziennikach klasyfikacji rocznej. BS II bez ocen zachowania w dziennikach.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Zachowanie wg typu szkoły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Średnia ocena zachowania (1–6) — technikum a szkoła branżowa I st.</a:t>
            </a:r>
          </a:p>
        </p:txBody>
      </p:sp>
      <p:pic>
        <p:nvPicPr>
          <p:cNvPr id="4" name="Picture 3" descr="zach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78283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Technikum stabilnie wysoko: 4,26 → 4,29 → 4,25.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BS I niżej, ale w górę: 3,40 → 3,68 → 3,64.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Różnica technikum–BS I maleje (z ~0,9 do ~0,6).</a:t>
            </a:r>
          </a:p>
          <a:p>
            <a:pPr algn="l"/>
            <a:r>
              <a:rPr sz="1100" b="0">
                <a:solidFill>
                  <a:srgbClr val="8A97A8"/>
                </a:solidFill>
              </a:rPr>
              <a:t>BS II: brak ocen zachowania w dziennikach.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Średnia ważona liczbą ocen. Skala: wzorowe=6 … naganne=1.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Zachowanie wg poziomu — Technikum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Średnia ocena zachowania dla każdego poziomu klas, rok do roku.</a:t>
            </a:r>
          </a:p>
        </p:txBody>
      </p:sp>
      <p:pic>
        <p:nvPicPr>
          <p:cNvPr id="4" name="Picture 3" descr="zach_lvl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78283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Im wyższa klasa, tym lepsze zachowanie: kl. 3–4 ~4,5–4,8.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1 najniżej (~3,7) — wejściowy rocznik.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W 25/26 lekki spadek klas 3–4 (do 4,49–4,55).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Klasy 5. technikum poza zakresem (brak rocznych danych zachowania).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A5F"/>
                </a:solidFill>
              </a:rPr>
              <a:t>Zachowanie wg poziomu — BS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15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7A8"/>
                </a:solidFill>
              </a:rPr>
              <a:t>Średnia ocena zachowania dla każdego poziomu klas, rok do roku.</a:t>
            </a:r>
          </a:p>
        </p:txBody>
      </p:sp>
      <p:pic>
        <p:nvPicPr>
          <p:cNvPr id="4" name="Picture 3" descr="zach_lvl_b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543800" cy="378283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783080"/>
            <a:ext cx="3246120" cy="393192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938528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</a:rPr>
              <a:t>Co widać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1 najsłabsza i spada w 25/26: 3,32 → 3,67 → 3,20.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2A3A"/>
                </a:solidFill>
              </a:rPr>
              <a:t>Klasa 2 rośnie: 3,63 → 3,56 → 3,94.</a:t>
            </a:r>
          </a:p>
          <a:p>
            <a:pPr algn="l"/>
            <a:r>
              <a:rPr sz="1150" b="1">
                <a:solidFill>
                  <a:srgbClr val="1F3A5F"/>
                </a:solidFill>
              </a:rPr>
              <a:t>Klasa 3 mocno w górę: 2,84 → 3,83 → 3,93.</a:t>
            </a:r>
          </a:p>
          <a:p>
            <a:pPr algn="l"/>
            <a:r>
              <a:rPr sz="1100" b="0">
                <a:solidFill>
                  <a:srgbClr val="8A97A8"/>
                </a:solidFill>
              </a:rPr>
              <a:t>Zachowanie poprawia się z wiekiem rocznika.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927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</a:rPr>
              <a:t>Średnia ważona liczbą ocen. Bez klas BS II.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</a:rPr>
              <a:t>Podsumowanie — zachowanie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7A8"/>
                </a:solidFill>
              </a:rPr>
              <a:t>Najważniejsze wnioski z części o zachowaniu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5212080" cy="365760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874519"/>
            <a:ext cx="5120640" cy="3657600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E3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</a:rPr>
              <a:t>✓  Co widać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Mniej ocen nagannych niż 2 lata temu (9% → 5%).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BS I wyraźnie się poprawia (3,40 → 3,64), różnica do technikum maleje.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Zachowanie rośnie z wiekiem rocznika — najstarsze klasy najwyżej.</a:t>
            </a:r>
          </a:p>
          <a:p>
            <a:pPr algn="l"/>
            <a:r>
              <a:rPr sz="1250" b="0">
                <a:solidFill>
                  <a:srgbClr val="1F2A3A"/>
                </a:solidFill>
              </a:rPr>
              <a:t>Technikum stabilnie wysoko (~4,25).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791F"/>
                </a:solidFill>
              </a:rPr>
              <a:t>!  Na czym się skupić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Klasy pierwsze (zwłaszcza BS I) — spadek do 3,20 w 25/26.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Mniej ocen wzorowych (16% → 11%) — spłaszczanie ku środkowi skali.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F2A3A"/>
                </a:solidFill>
              </a:rPr>
              <a:t>Lekki spadek klas 3–4 technikum w bieżącym roku.</a:t>
            </a:r>
          </a:p>
          <a:p>
            <a:pPr algn="l"/>
            <a:r>
              <a:rPr sz="1250" b="0">
                <a:solidFill>
                  <a:srgbClr val="1F2A3A"/>
                </a:solidFill>
              </a:rPr>
              <a:t>Profilaktyka zachowania od pierwszej klasy.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</a:rPr>
              <a:t>Dziękuję za uwagę!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6D57E8-B52E-1B4C-AF2C-D7C5F3B6842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349d78b-cde9-45ce-81cf-0c1b17a4dc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1737</Words>
  <Application>Microsoft Macintosh PowerPoint</Application>
  <PresentationFormat>Panoramiczny</PresentationFormat>
  <Paragraphs>467</Paragraphs>
  <Slides>26</Slides>
  <Notes>26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Klasyfikacja końcowa 2025/2026</dc:title>
  <dc:subject>PptxGenJS Presentation</dc:subject>
  <dc:creator>Zespół Szkół Zawodowych nr 5</dc:creator>
  <cp:lastModifiedBy>Maciej Najwer</cp:lastModifiedBy>
  <cp:revision>1</cp:revision>
  <dcterms:created xsi:type="dcterms:W3CDTF">2026-06-22T21:57:06Z</dcterms:created>
  <dcterms:modified xsi:type="dcterms:W3CDTF">2026-06-23T07:00:07Z</dcterms:modified>
</cp:coreProperties>
</file>